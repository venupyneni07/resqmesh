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b8f598e05f4716" /><Relationship Type="http://schemas.openxmlformats.org/officeDocument/2006/relationships/extended-properties" Target="/docProps/app.xml" Id="Radfefedb99ed4d98" /><Relationship Type="http://schemas.openxmlformats.org/officeDocument/2006/relationships/officeDocument" Target="/ppt/presentation.xml" Id="R0a0f4d99341941f4" /></Relationships>
</file>

<file path=ppt/presentation.xml><?xml version="1.0" encoding="utf-8"?>
<p:presentation xmlns:p="http://schemas.openxmlformats.org/presentationml/2006/main">
  <p:sldMasterIdLst>
    <p:sldMasterId xmlns:r="http://schemas.openxmlformats.org/officeDocument/2006/relationships" id="2147483648" r:id="R5e726c0f1fc6433e"/>
  </p:sldMasterIdLst>
  <p:notesMasterIdLst>
    <p:notesMasterId xmlns:r="http://schemas.openxmlformats.org/officeDocument/2006/relationships" r:id="Rf19964dccb0547ba"/>
  </p:notesMasterIdLst>
  <p:sldIdLst>
    <p:sldId xmlns:r="http://schemas.openxmlformats.org/officeDocument/2006/relationships" id="256" r:id="R5c6541927f6c4052"/>
    <p:sldId xmlns:r="http://schemas.openxmlformats.org/officeDocument/2006/relationships" id="257" r:id="R6d1e8336618b4262"/>
    <p:sldId xmlns:r="http://schemas.openxmlformats.org/officeDocument/2006/relationships" id="258" r:id="R59dbb6433fd64d98"/>
    <p:sldId xmlns:r="http://schemas.openxmlformats.org/officeDocument/2006/relationships" id="259" r:id="Rf5808a444a44489d"/>
    <p:sldId xmlns:r="http://schemas.openxmlformats.org/officeDocument/2006/relationships" id="260" r:id="R29e203bcb9a5447d"/>
    <p:sldId xmlns:r="http://schemas.openxmlformats.org/officeDocument/2006/relationships" id="261" r:id="Rdb151502d715445a"/>
    <p:sldId xmlns:r="http://schemas.openxmlformats.org/officeDocument/2006/relationships" id="262" r:id="Rd61665cd48f74efa"/>
    <p:sldId xmlns:r="http://schemas.openxmlformats.org/officeDocument/2006/relationships" id="263" r:id="R27da7e4b96c446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dd40f4d81f4ca1" /><Relationship Type="http://schemas.openxmlformats.org/officeDocument/2006/relationships/slideMaster" Target="/ppt/slideMasters/slideMaster1.xml" Id="R5e726c0f1fc6433e" /><Relationship Type="http://schemas.openxmlformats.org/officeDocument/2006/relationships/notesMaster" Target="/ppt/notesMasters/notesMaster1.xml" Id="Rf19964dccb0547ba" /><Relationship Type="http://schemas.openxmlformats.org/officeDocument/2006/relationships/presProps" Target="/ppt/presProps.xml" Id="Rf75d642c0b4c4cb3" /><Relationship Type="http://schemas.openxmlformats.org/officeDocument/2006/relationships/tableStyles" Target="/ppt/tableStyles.xml" Id="R35ab420da16640a6" /><Relationship Type="http://schemas.openxmlformats.org/officeDocument/2006/relationships/slide" Target="/ppt/slides/slide1.xml" Id="R5c6541927f6c4052" /><Relationship Type="http://schemas.openxmlformats.org/officeDocument/2006/relationships/slide" Target="/ppt/slides/slide2.xml" Id="R6d1e8336618b4262" /><Relationship Type="http://schemas.openxmlformats.org/officeDocument/2006/relationships/slide" Target="/ppt/slides/slide3.xml" Id="R59dbb6433fd64d98" /><Relationship Type="http://schemas.openxmlformats.org/officeDocument/2006/relationships/slide" Target="/ppt/slides/slide4.xml" Id="Rf5808a444a44489d" /><Relationship Type="http://schemas.openxmlformats.org/officeDocument/2006/relationships/slide" Target="/ppt/slides/slide5.xml" Id="R29e203bcb9a5447d" /><Relationship Type="http://schemas.openxmlformats.org/officeDocument/2006/relationships/slide" Target="/ppt/slides/slide6.xml" Id="Rdb151502d715445a" /><Relationship Type="http://schemas.openxmlformats.org/officeDocument/2006/relationships/slide" Target="/ppt/slides/slide7.xml" Id="Rd61665cd48f74efa" /><Relationship Type="http://schemas.openxmlformats.org/officeDocument/2006/relationships/slide" Target="/ppt/slides/slide8.xml" Id="R27da7e4b96c446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18342cffa74b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5598bd22d94652" /><Relationship Type="http://schemas.openxmlformats.org/officeDocument/2006/relationships/notesMaster" Target="/ppt/notesMasters/notesMaster1.xml" Id="R00e16d72776542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38cbc29ae44a15" /><Relationship Type="http://schemas.openxmlformats.org/officeDocument/2006/relationships/notesMaster" Target="/ppt/notesMasters/notesMaster1.xml" Id="R2ba6b01acfa246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1885ae92e04c62" /><Relationship Type="http://schemas.openxmlformats.org/officeDocument/2006/relationships/notesMaster" Target="/ppt/notesMasters/notesMaster1.xml" Id="R2362aad8395048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4c554f227d499a" /><Relationship Type="http://schemas.openxmlformats.org/officeDocument/2006/relationships/notesMaster" Target="/ppt/notesMasters/notesMaster1.xml" Id="Rdf8f0dc46d5744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6f3cf382bc4650" /><Relationship Type="http://schemas.openxmlformats.org/officeDocument/2006/relationships/notesMaster" Target="/ppt/notesMasters/notesMaster1.xml" Id="R80697478542e43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d3501d65fa4826" /><Relationship Type="http://schemas.openxmlformats.org/officeDocument/2006/relationships/notesMaster" Target="/ppt/notesMasters/notesMaster1.xml" Id="Rff12eee7bc734a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c494b2d223437b" /><Relationship Type="http://schemas.openxmlformats.org/officeDocument/2006/relationships/notesMaster" Target="/ppt/notesMasters/notesMaster1.xml" Id="R1dbbc8bd218849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b325adf8434713" /><Relationship Type="http://schemas.openxmlformats.org/officeDocument/2006/relationships/notesMaster" Target="/ppt/notesMasters/notesMaster1.xml" Id="R6ccfb65cf2f84e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ResQMesh is an original hackathon prototype by Venu Pyneni. Present the emulator workflow as simulation. The physical radio milestone requires actual phones.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not a record of an actual emergency. Every participating relay must have ResQMesh installed. Communication requires a reachable peer or later connectivity.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docs/ARCHITECTURE.md and source directories android/ and backend/. Both transports use the deterministic relay core. Nearby Connections documentation: https://developers.google.com/nearby/connections/overview and https://developers.google.com/nearby/connections/strategies. This is a software architecture diagram, not a fixed device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mobile screen uses the local device perspective. Simulation controls belong in a separate Simulation Lab. Delivery only advances on persisted or received events. A backend receipt is different from responder acknowledgement.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runtime uses locally installed Ollama gemma4:e2b, Q4_K_M, 4.6B reported total parameters, digest b37049369adfe3d2b653af0ab301a062ca5cbe96ace6aa0d3f2559ee9b563fc2. Model card and license: https://ai.google.dev/gemma/docs/core/model_card_4. Ollama model identifier: https://ollama.com/library/gemma4:e2b. The stages are separate prompts and validated outputs, without a multi-agent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does not establish the truth of an incident. Multiple anonymous IDs do not prove independent witnesses. Duplicate relay copies of the same report do not create corroboration. The response system records operator decisions and creates an acknowledgement receipt, without dispatching a real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synthetic reports. Start at a single virtual node with no internet. Add peers and links in Simulation Lab. Let a relay gain connectivity. Show actual backend receipt and four AI stages. Acknowledge in the dashboard, then show the returned receipt on the originating device. Do not claim emulator simulation proves real Nearby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results and final verification records are saved with the project. Physical multi-phone radio tests remain pending. Foreground operation and trusted demo peers are the current scope. This is not a replacement for official emergency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1ce2fad2df42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8149ebc0024f0a" /><Relationship Type="http://schemas.openxmlformats.org/officeDocument/2006/relationships/slideLayout" Target="/ppt/slideLayouts/slideLayout1.xml" Id="R360248b922194c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0248b922194c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22dbc3771b4c98" /><Relationship Type="http://schemas.openxmlformats.org/officeDocument/2006/relationships/notesSlide" Target="/ppt/notesSlides/notesSlide1.xml" Id="R99f1bd6073d94d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bb9c71361e48c0" /><Relationship Type="http://schemas.openxmlformats.org/officeDocument/2006/relationships/notesSlide" Target="/ppt/notesSlides/notesSlide2.xml" Id="Re2be00cfba7448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34e87b04eb4d33" /><Relationship Type="http://schemas.openxmlformats.org/officeDocument/2006/relationships/notesSlide" Target="/ppt/notesSlides/notesSlide3.xml" Id="R5ba48aedebe946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c6229c9ee9446d" /><Relationship Type="http://schemas.openxmlformats.org/officeDocument/2006/relationships/notesSlide" Target="/ppt/notesSlides/notesSlide4.xml" Id="R58743754f0f445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e92faa3046483b" /><Relationship Type="http://schemas.openxmlformats.org/officeDocument/2006/relationships/notesSlide" Target="/ppt/notesSlides/notesSlide5.xml" Id="R37728b0bd7da4a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2f7890104a4732" /><Relationship Type="http://schemas.openxmlformats.org/officeDocument/2006/relationships/notesSlide" Target="/ppt/notesSlides/notesSlide6.xml" Id="Rdac49df8b4aa4d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96634426264b98" /><Relationship Type="http://schemas.openxmlformats.org/officeDocument/2006/relationships/notesSlide" Target="/ppt/notesSlides/notesSlide7.xml" Id="R99d6a6fff2a249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306f11bb3f41c5" /><Relationship Type="http://schemas.openxmlformats.org/officeDocument/2006/relationships/notesSlide" Target="/ppt/notesSlides/notesSlide8.xml" Id="Rf4b9ecf206b24f91" /></Relationships>
</file>

<file path=ppt/slides/slide1.xml><?xml version="1.0" encoding="utf-8"?>
<p:sld xmlns:p="http://schemas.openxmlformats.org/presentationml/2006/main">
  <p:cSld>
    <p:bg>
      <p:bgPr>
        <a:solidFill xmlns:a="http://schemas.openxmlformats.org/drawingml/2006/main">
          <a:srgbClr val="112B3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F3A26CD-F468-489B-A5C8-1FD37FCC5CB5}"/>
              </a:ext>
            </a:extLst>
          </p:cNvPr>
          <p:cNvSpPr>
            <a:spLocks xmlns:a="http://schemas.openxmlformats.org/drawingml/2006/main" noGrp="1"/>
          </p:cNvSpPr>
          <p:nvPr/>
        </p:nvSpPr>
        <p:spPr>
          <a:xfrm xmlns:a="http://schemas.openxmlformats.org/drawingml/2006/main">
            <a:off x="666750" y="17335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8F5EE"/>
                </a:solidFill>
                <a:latin typeface="Helvetica Neue"/>
                <a:ea typeface="Helvetica Neue"/>
                <a:cs typeface="Helvetica Neue"/>
              </a:defRPr>
            </a:pPr>
            <a:r>
              <a:rPr sz="6600" b="1">
                <a:solidFill>
                  <a:srgbClr val="F8F5EE"/>
                </a:solidFill>
                <a:latin typeface="Helvetica Neue"/>
                <a:ea typeface="Helvetica Neue"/>
                <a:cs typeface="Helvetica Neue"/>
              </a:rPr>
              <a:t>ResQMesh</a:t>
            </a:r>
          </a:p>
        </p:txBody>
      </p:sp>
      <p:sp>
        <p:nvSpPr>
          <p:cNvPr id="2" name="">
            <a:extLst xmlns:a="http://schemas.openxmlformats.org/drawingml/2006/main">
              <a:ext uri="{FF2B5EF4-FFF2-40B4-BE49-F238E27FC236}">
                <a16:creationId xmlns:a16="http://schemas.microsoft.com/office/drawing/2014/main" id="{80343336-39AF-4D10-99BE-2DC45F2F1DD4}"/>
              </a:ext>
            </a:extLst>
          </p:cNvPr>
          <p:cNvSpPr>
            <a:spLocks xmlns:a="http://schemas.openxmlformats.org/drawingml/2006/main" noGrp="1"/>
          </p:cNvSpPr>
          <p:nvPr/>
        </p:nvSpPr>
        <p:spPr>
          <a:xfrm xmlns:a="http://schemas.openxmlformats.org/drawingml/2006/main">
            <a:off x="723900" y="3095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8F5EE"/>
                </a:solidFill>
                <a:latin typeface="Helvetica Neue"/>
                <a:ea typeface="Helvetica Neue"/>
                <a:cs typeface="Helvetica Neue"/>
              </a:defRPr>
            </a:pPr>
            <a:r>
              <a:rPr sz="3000" b="0">
                <a:solidFill>
                  <a:srgbClr val="F8F5EE"/>
                </a:solidFill>
                <a:latin typeface="Helvetica Neue"/>
                <a:ea typeface="Helvetica Neue"/>
                <a:cs typeface="Helvetica Neue"/>
              </a:rPr>
              <a:t>Emergency reports beyond one connection</a:t>
            </a:r>
          </a:p>
        </p:txBody>
      </p:sp>
      <p:sp>
        <p:nvSpPr>
          <p:cNvPr id="3" name="">
            <a:extLst xmlns:a="http://schemas.openxmlformats.org/drawingml/2006/main">
              <a:ext uri="{FF2B5EF4-FFF2-40B4-BE49-F238E27FC236}">
                <a16:creationId xmlns:a16="http://schemas.microsoft.com/office/drawing/2014/main" id="{F4064207-CC89-4F9A-BF65-E83553DFC766}"/>
              </a:ext>
            </a:extLst>
          </p:cNvPr>
          <p:cNvSpPr>
            <a:spLocks xmlns:a="http://schemas.openxmlformats.org/drawingml/2006/main" noGrp="1"/>
          </p:cNvSpPr>
          <p:nvPr/>
        </p:nvSpPr>
        <p:spPr>
          <a:xfrm xmlns:a="http://schemas.openxmlformats.org/drawingml/2006/main">
            <a:off x="723900" y="52006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6CBCB"/>
                </a:solidFill>
                <a:latin typeface="Helvetica Neue"/>
                <a:ea typeface="Helvetica Neue"/>
                <a:cs typeface="Helvetica Neue"/>
              </a:defRPr>
            </a:pPr>
            <a:r>
              <a:rPr sz="1875" b="0">
                <a:solidFill>
                  <a:srgbClr val="B6CBCB"/>
                </a:solidFill>
                <a:latin typeface="Helvetica Neue"/>
                <a:ea typeface="Helvetica Neue"/>
                <a:cs typeface="Helvetica Neue"/>
              </a:rPr>
              <a:t>Hacktoberfest Hack Day Bengaluru</a:t>
            </a:r>
          </a:p>
          <a:p xmlns:a="http://schemas.openxmlformats.org/drawingml/2006/main">
            <a:pPr>
              <a:defRPr sz="1875" b="0">
                <a:solidFill>
                  <a:srgbClr val="B6CBCB"/>
                </a:solidFill>
                <a:latin typeface="Helvetica Neue"/>
                <a:ea typeface="Helvetica Neue"/>
                <a:cs typeface="Helvetica Neue"/>
              </a:defRPr>
            </a:pPr>
            <a:r>
              <a:rPr sz="1875" b="0">
                <a:solidFill>
                  <a:srgbClr val="B6CBCB"/>
                </a:solidFill>
                <a:latin typeface="Helvetica Neue"/>
                <a:ea typeface="Helvetica Neue"/>
                <a:cs typeface="Helvetica Neue"/>
              </a:rPr>
              <a:t>4 October 2026</a:t>
            </a:r>
          </a:p>
        </p:txBody>
      </p:sp>
    </p:spTree>
    <p:extLst>
      <p:ext uri="{BB962C8B-B14F-4D97-AF65-F5344CB8AC3E}">
        <p14:creationId xmlns:p14="http://schemas.microsoft.com/office/powerpoint/2010/main" val="302576723"/>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C18AB1-5E1F-442D-AE7B-F73F84D2D4CF}"/>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When the network disappears</a:t>
            </a:r>
          </a:p>
        </p:txBody>
      </p:sp>
      <p:sp>
        <p:nvSpPr>
          <p:cNvPr id="2" name="">
            <a:extLst xmlns:a="http://schemas.openxmlformats.org/drawingml/2006/main">
              <a:ext uri="{FF2B5EF4-FFF2-40B4-BE49-F238E27FC236}">
                <a16:creationId xmlns:a16="http://schemas.microsoft.com/office/drawing/2014/main" id="{D456C871-CCAF-4CF1-B5B1-66A9317EC319}"/>
              </a:ext>
            </a:extLst>
          </p:cNvPr>
          <p:cNvSpPr>
            <a:spLocks xmlns:a="http://schemas.openxmlformats.org/drawingml/2006/main" noGrp="1"/>
          </p:cNvSpPr>
          <p:nvPr/>
        </p:nvSpPr>
        <p:spPr>
          <a:xfrm xmlns:a="http://schemas.openxmlformats.org/drawingml/2006/main">
            <a:off x="685800" y="163830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12B37"/>
                </a:solidFill>
                <a:latin typeface="Helvetica Neue"/>
                <a:ea typeface="Helvetica Neue"/>
                <a:cs typeface="Helvetica Neue"/>
              </a:defRPr>
            </a:pPr>
            <a:r>
              <a:rPr sz="3525" b="1">
                <a:solidFill>
                  <a:srgbClr val="112B37"/>
                </a:solidFill>
                <a:latin typeface="Helvetica Neue"/>
                <a:ea typeface="Helvetica Neue"/>
                <a:cs typeface="Helvetica Neue"/>
              </a:rPr>
              <a:t>A person in a basement can still save an SOS.</a:t>
            </a:r>
          </a:p>
        </p:txBody>
      </p:sp>
      <p:sp>
        <p:nvSpPr>
          <p:cNvPr id="3" name="">
            <a:extLst xmlns:a="http://schemas.openxmlformats.org/drawingml/2006/main">
              <a:ext uri="{FF2B5EF4-FFF2-40B4-BE49-F238E27FC236}">
                <a16:creationId xmlns:a16="http://schemas.microsoft.com/office/drawing/2014/main" id="{BFC267F0-958D-4ECB-A8E2-F53C4EEBF6B4}"/>
              </a:ext>
            </a:extLst>
          </p:cNvPr>
          <p:cNvSpPr>
            <a:spLocks xmlns:a="http://schemas.openxmlformats.org/drawingml/2006/main" noGrp="1"/>
          </p:cNvSpPr>
          <p:nvPr/>
        </p:nvSpPr>
        <p:spPr>
          <a:xfrm xmlns:a="http://schemas.openxmlformats.org/drawingml/2006/main">
            <a:off x="685800" y="3019425"/>
            <a:ext cx="10363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12B37"/>
                </a:solidFill>
                <a:latin typeface="Helvetica Neue"/>
                <a:ea typeface="Helvetica Neue"/>
                <a:cs typeface="Helvetica Neue"/>
              </a:defRPr>
            </a:pPr>
            <a:r>
              <a:rPr sz="2550" b="0">
                <a:solidFill>
                  <a:srgbClr val="112B37"/>
                </a:solidFill>
                <a:latin typeface="Helvetica Neue"/>
                <a:ea typeface="Helvetica Neue"/>
                <a:cs typeface="Helvetica Neue"/>
              </a:rPr>
              <a:t>The phone keeps the report until another participating device becomes reachable. Any device that reaches the backend can upload it.</a:t>
            </a:r>
          </a:p>
        </p:txBody>
      </p:sp>
      <p:sp>
        <p:nvSpPr>
          <p:cNvPr id="4" name="">
            <a:extLst xmlns:a="http://schemas.openxmlformats.org/drawingml/2006/main">
              <a:ext uri="{FF2B5EF4-FFF2-40B4-BE49-F238E27FC236}">
                <a16:creationId xmlns:a16="http://schemas.microsoft.com/office/drawing/2014/main" id="{8A7BA1B6-9583-4BE7-BD4A-6D3C54F6C31C}"/>
              </a:ext>
            </a:extLst>
          </p:cNvPr>
          <p:cNvSpPr>
            <a:spLocks xmlns:a="http://schemas.openxmlformats.org/drawingml/2006/main" noGrp="1"/>
          </p:cNvSpPr>
          <p:nvPr/>
        </p:nvSpPr>
        <p:spPr>
          <a:xfrm xmlns:a="http://schemas.openxmlformats.org/drawingml/2006/main">
            <a:off x="685800" y="5191125"/>
            <a:ext cx="1019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D6D73"/>
                </a:solidFill>
                <a:latin typeface="Helvetica Neue"/>
                <a:ea typeface="Helvetica Neue"/>
                <a:cs typeface="Helvetica Neue"/>
              </a:defRPr>
            </a:pPr>
            <a:r>
              <a:rPr sz="2175" b="0">
                <a:solidFill>
                  <a:srgbClr val="5D6D73"/>
                </a:solidFill>
                <a:latin typeface="Helvetica Neue"/>
                <a:ea typeface="Helvetica Neue"/>
                <a:cs typeface="Helvetica Neue"/>
              </a:rPr>
              <a:t>No reachable peer and no connectivity means waiting with the report saved locally.</a:t>
            </a:r>
          </a:p>
        </p:txBody>
      </p:sp>
    </p:spTree>
    <p:extLst>
      <p:ext uri="{BB962C8B-B14F-4D97-AF65-F5344CB8AC3E}">
        <p14:creationId xmlns:p14="http://schemas.microsoft.com/office/powerpoint/2010/main" val="20643075"/>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2EAA316-A06D-4E65-91AF-17011B5FF7F6}"/>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Architecture</a:t>
            </a:r>
          </a:p>
        </p:txBody>
      </p:sp>
      <p:sp>
        <p:nvSpPr>
          <p:cNvPr id="2" name="">
            <a:extLst xmlns:a="http://schemas.openxmlformats.org/drawingml/2006/main">
              <a:ext uri="{FF2B5EF4-FFF2-40B4-BE49-F238E27FC236}">
                <a16:creationId xmlns:a16="http://schemas.microsoft.com/office/drawing/2014/main" id="{C8915205-C46A-4308-9264-8A8E35616584}"/>
              </a:ext>
            </a:extLst>
          </p:cNvPr>
          <p:cNvSpPr>
            <a:spLocks xmlns:a="http://schemas.openxmlformats.org/drawingml/2006/main" noGrp="1"/>
          </p:cNvSpPr>
          <p:nvPr/>
        </p:nvSpPr>
        <p:spPr>
          <a:xfrm xmlns:a="http://schemas.openxmlformats.org/drawingml/2006/main">
            <a:off x="619125" y="1676400"/>
            <a:ext cx="2809875" cy="704850"/>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Android SOS app</a:t>
            </a:r>
          </a:p>
        </p:txBody>
      </p:sp>
      <p:sp>
        <p:nvSpPr>
          <p:cNvPr id="3" name="">
            <a:extLst xmlns:a="http://schemas.openxmlformats.org/drawingml/2006/main">
              <a:ext uri="{FF2B5EF4-FFF2-40B4-BE49-F238E27FC236}">
                <a16:creationId xmlns:a16="http://schemas.microsoft.com/office/drawing/2014/main" id="{189252F2-ADDF-44E9-879A-7F78C5FD020E}"/>
              </a:ext>
            </a:extLst>
          </p:cNvPr>
          <p:cNvSpPr>
            <a:spLocks xmlns:a="http://schemas.openxmlformats.org/drawingml/2006/main" noGrp="1"/>
          </p:cNvSpPr>
          <p:nvPr/>
        </p:nvSpPr>
        <p:spPr>
          <a:xfrm xmlns:a="http://schemas.openxmlformats.org/drawingml/2006/main">
            <a:off x="619125" y="2952750"/>
            <a:ext cx="2809875" cy="800100"/>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Kotlin relay + Room</a:t>
            </a:r>
          </a:p>
        </p:txBody>
      </p:sp>
      <p:sp>
        <p:nvSpPr>
          <p:cNvPr id="4" name="">
            <a:extLst xmlns:a="http://schemas.openxmlformats.org/drawingml/2006/main">
              <a:ext uri="{FF2B5EF4-FFF2-40B4-BE49-F238E27FC236}">
                <a16:creationId xmlns:a16="http://schemas.microsoft.com/office/drawing/2014/main" id="{6253BB3A-BC5C-4C8B-BF71-883CE4AE40DE}"/>
              </a:ext>
            </a:extLst>
          </p:cNvPr>
          <p:cNvSpPr>
            <a:spLocks xmlns:a="http://schemas.openxmlformats.org/drawingml/2006/main" noGrp="1"/>
          </p:cNvSpPr>
          <p:nvPr/>
        </p:nvSpPr>
        <p:spPr>
          <a:xfrm xmlns:a="http://schemas.openxmlformats.org/drawingml/2006/main">
            <a:off x="4000500" y="2286000"/>
            <a:ext cx="3333750" cy="714375"/>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SimulationTransport</a:t>
            </a:r>
          </a:p>
        </p:txBody>
      </p:sp>
      <p:sp>
        <p:nvSpPr>
          <p:cNvPr id="5" name="">
            <a:extLst xmlns:a="http://schemas.openxmlformats.org/drawingml/2006/main">
              <a:ext uri="{FF2B5EF4-FFF2-40B4-BE49-F238E27FC236}">
                <a16:creationId xmlns:a16="http://schemas.microsoft.com/office/drawing/2014/main" id="{F4B33FEF-432E-41A1-A3E8-9F521FE4214E}"/>
              </a:ext>
            </a:extLst>
          </p:cNvPr>
          <p:cNvSpPr>
            <a:spLocks xmlns:a="http://schemas.openxmlformats.org/drawingml/2006/main" noGrp="1"/>
          </p:cNvSpPr>
          <p:nvPr/>
        </p:nvSpPr>
        <p:spPr>
          <a:xfrm xmlns:a="http://schemas.openxmlformats.org/drawingml/2006/main">
            <a:off x="4000500" y="3476625"/>
            <a:ext cx="3333750" cy="714375"/>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NearbyTransport</a:t>
            </a:r>
          </a:p>
        </p:txBody>
      </p:sp>
      <p:sp>
        <p:nvSpPr>
          <p:cNvPr id="6" name="">
            <a:extLst xmlns:a="http://schemas.openxmlformats.org/drawingml/2006/main">
              <a:ext uri="{FF2B5EF4-FFF2-40B4-BE49-F238E27FC236}">
                <a16:creationId xmlns:a16="http://schemas.microsoft.com/office/drawing/2014/main" id="{A60B0BDB-0C53-4ABC-AA26-B1C7E8247828}"/>
              </a:ext>
            </a:extLst>
          </p:cNvPr>
          <p:cNvSpPr>
            <a:spLocks xmlns:a="http://schemas.openxmlformats.org/drawingml/2006/main" noGrp="1"/>
          </p:cNvSpPr>
          <p:nvPr/>
        </p:nvSpPr>
        <p:spPr>
          <a:xfrm xmlns:a="http://schemas.openxmlformats.org/drawingml/2006/main">
            <a:off x="619125" y="4791075"/>
            <a:ext cx="2809875" cy="876300"/>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Any reachable gateway</a:t>
            </a:r>
          </a:p>
        </p:txBody>
      </p:sp>
      <p:sp>
        <p:nvSpPr>
          <p:cNvPr id="7" name="">
            <a:extLst xmlns:a="http://schemas.openxmlformats.org/drawingml/2006/main">
              <a:ext uri="{FF2B5EF4-FFF2-40B4-BE49-F238E27FC236}">
                <a16:creationId xmlns:a16="http://schemas.microsoft.com/office/drawing/2014/main" id="{C77FF7A9-1CAB-4A02-A85E-BFFADC03DB6B}"/>
              </a:ext>
            </a:extLst>
          </p:cNvPr>
          <p:cNvSpPr>
            <a:spLocks xmlns:a="http://schemas.openxmlformats.org/drawingml/2006/main" noGrp="1"/>
          </p:cNvSpPr>
          <p:nvPr/>
        </p:nvSpPr>
        <p:spPr>
          <a:xfrm xmlns:a="http://schemas.openxmlformats.org/drawingml/2006/main">
            <a:off x="4000500" y="4791075"/>
            <a:ext cx="3333750" cy="876300"/>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FastAPI + SQLite</a:t>
            </a:r>
          </a:p>
        </p:txBody>
      </p:sp>
      <p:sp>
        <p:nvSpPr>
          <p:cNvPr id="8" name="">
            <a:extLst xmlns:a="http://schemas.openxmlformats.org/drawingml/2006/main">
              <a:ext uri="{FF2B5EF4-FFF2-40B4-BE49-F238E27FC236}">
                <a16:creationId xmlns:a16="http://schemas.microsoft.com/office/drawing/2014/main" id="{216541BE-757E-46E9-B395-C2F3A1A813A7}"/>
              </a:ext>
            </a:extLst>
          </p:cNvPr>
          <p:cNvSpPr>
            <a:spLocks xmlns:a="http://schemas.openxmlformats.org/drawingml/2006/main" noGrp="1"/>
          </p:cNvSpPr>
          <p:nvPr/>
        </p:nvSpPr>
        <p:spPr>
          <a:xfrm xmlns:a="http://schemas.openxmlformats.org/drawingml/2006/main">
            <a:off x="8143875" y="3095625"/>
            <a:ext cx="3381375" cy="876300"/>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Four Gemma agents</a:t>
            </a:r>
          </a:p>
        </p:txBody>
      </p:sp>
      <p:sp>
        <p:nvSpPr>
          <p:cNvPr id="9" name="">
            <a:extLst xmlns:a="http://schemas.openxmlformats.org/drawingml/2006/main">
              <a:ext uri="{FF2B5EF4-FFF2-40B4-BE49-F238E27FC236}">
                <a16:creationId xmlns:a16="http://schemas.microsoft.com/office/drawing/2014/main" id="{05246E19-14F3-4BB2-A905-3DA76A6E30B7}"/>
              </a:ext>
            </a:extLst>
          </p:cNvPr>
          <p:cNvSpPr>
            <a:spLocks xmlns:a="http://schemas.openxmlformats.org/drawingml/2006/main" noGrp="1"/>
          </p:cNvSpPr>
          <p:nvPr/>
        </p:nvSpPr>
        <p:spPr>
          <a:xfrm xmlns:a="http://schemas.openxmlformats.org/drawingml/2006/main">
            <a:off x="8143875" y="4791075"/>
            <a:ext cx="3381375" cy="876300"/>
          </a:xfrm>
          <a:prstGeom xmlns:a="http://schemas.openxmlformats.org/drawingml/2006/main" prst="rect">
            <a:avLst/>
          </a:prstGeom>
          <a:solidFill xmlns:a="http://schemas.openxmlformats.org/drawingml/2006/main">
            <a:srgbClr val="F8F5EE"/>
          </a:solidFill>
          <a:ln xmlns:a="http://schemas.openxmlformats.org/drawingml/2006/main" w="19050">
            <a:solidFill>
              <a:srgbClr val="126B64"/>
            </a:solidFill>
          </a:ln>
        </p:spPr>
        <p:txBody>
          <a:bodyPr xmlns:a="http://schemas.openxmlformats.org/drawingml/2006/main" anchor="ctr"/>
          <a:lstStyle xmlns:a="http://schemas.openxmlformats.org/drawingml/2006/main"/>
          <a:p xmlns:a="http://schemas.openxmlformats.org/drawingml/2006/main">
            <a:pPr algn="ctr">
              <a:defRPr sz="2025" b="1">
                <a:solidFill>
                  <a:srgbClr val="112B37"/>
                </a:solidFill>
                <a:latin typeface="Helvetica Neue"/>
                <a:ea typeface="Helvetica Neue"/>
                <a:cs typeface="Helvetica Neue"/>
              </a:defRPr>
            </a:pPr>
            <a:r>
              <a:rPr sz="2025" b="1">
                <a:solidFill>
                  <a:srgbClr val="112B37"/>
                </a:solidFill>
                <a:latin typeface="Helvetica Neue"/>
                <a:ea typeface="Helvetica Neue"/>
                <a:cs typeface="Helvetica Neue"/>
              </a:rPr>
              <a:t>Response Center</a:t>
            </a:r>
          </a:p>
        </p:txBody>
      </p:sp>
      <p:cxnSp>
        <p:nvCxnSpPr>
          <p:cNvPr id="27" name=""/>
          <p:cNvCxnSpPr>
            <a:stCxn xmlns:a="http://schemas.openxmlformats.org/drawingml/2006/main" id="2" idx="2"/>
            <a:endCxn xmlns:a="http://schemas.openxmlformats.org/drawingml/2006/main" id="3" idx="0"/>
          </p:cNvCxnSpPr>
          <p:nvPr/>
        </p:nvCxnSpPr>
        <p:spPr>
          <a:xfrm xmlns:a="http://schemas.openxmlformats.org/drawingml/2006/main">
            <a:off x="2024063" y="2381250"/>
            <a:ext cx="0" cy="571500"/>
          </a:xfrm>
          <a:prstGeom xmlns:a="http://schemas.openxmlformats.org/drawingml/2006/main" prst="straightConnector1">
            <a:avLst/>
          </a:prstGeom>
          <a:ln xmlns:a="http://schemas.openxmlformats.org/drawingml/2006/main" w="19050">
            <a:solidFill>
              <a:srgbClr val="126B64"/>
            </a:solidFill>
            <a:tailEnd type="triangle" w="sm" len="sm"/>
          </a:ln>
        </p:spPr>
      </p:cxnSp>
      <p:cxnSp>
        <p:nvCxnSpPr>
          <p:cNvPr id="28" name=""/>
          <p:cNvCxnSpPr>
            <a:stCxn xmlns:a="http://schemas.openxmlformats.org/drawingml/2006/main" id="3" idx="3"/>
            <a:endCxn xmlns:a="http://schemas.openxmlformats.org/drawingml/2006/main" id="4" idx="1"/>
          </p:cNvCxnSpPr>
          <p:nvPr/>
        </p:nvCxnSpPr>
        <p:spPr>
          <a:xfrm xmlns:a="http://schemas.openxmlformats.org/drawingml/2006/main" flipV="1">
            <a:off x="3429000" y="2643188"/>
            <a:ext cx="571500" cy="709613"/>
          </a:xfrm>
          <a:prstGeom xmlns:a="http://schemas.openxmlformats.org/drawingml/2006/main" prst="bentConnector3">
            <a:avLst>
              <a:gd name="adj1" fmla="val 50000"/>
            </a:avLst>
          </a:prstGeom>
          <a:ln xmlns:a="http://schemas.openxmlformats.org/drawingml/2006/main" w="19050">
            <a:solidFill>
              <a:srgbClr val="126B64"/>
            </a:solidFill>
            <a:tailEnd type="triangle" w="sm" len="sm"/>
          </a:ln>
        </p:spPr>
      </p:cxnSp>
      <p:cxnSp>
        <p:nvCxnSpPr>
          <p:cNvPr id="29" name=""/>
          <p:cNvCxnSpPr>
            <a:stCxn xmlns:a="http://schemas.openxmlformats.org/drawingml/2006/main" id="3" idx="3"/>
            <a:endCxn xmlns:a="http://schemas.openxmlformats.org/drawingml/2006/main" id="5" idx="1"/>
          </p:cNvCxnSpPr>
          <p:nvPr/>
        </p:nvCxnSpPr>
        <p:spPr>
          <a:xfrm xmlns:a="http://schemas.openxmlformats.org/drawingml/2006/main">
            <a:off x="3429000" y="3352800"/>
            <a:ext cx="571500" cy="481013"/>
          </a:xfrm>
          <a:prstGeom xmlns:a="http://schemas.openxmlformats.org/drawingml/2006/main" prst="bentConnector3">
            <a:avLst>
              <a:gd name="adj1" fmla="val 50000"/>
            </a:avLst>
          </a:prstGeom>
          <a:ln xmlns:a="http://schemas.openxmlformats.org/drawingml/2006/main" w="19050">
            <a:solidFill>
              <a:srgbClr val="126B64"/>
            </a:solidFill>
            <a:tailEnd type="triangle" w="sm" len="sm"/>
          </a:ln>
        </p:spPr>
      </p:cxnSp>
      <p:cxnSp>
        <p:nvCxnSpPr>
          <p:cNvPr id="30" name=""/>
          <p:cNvCxnSpPr>
            <a:stCxn xmlns:a="http://schemas.openxmlformats.org/drawingml/2006/main" id="3" idx="2"/>
            <a:endCxn xmlns:a="http://schemas.openxmlformats.org/drawingml/2006/main" id="6" idx="0"/>
          </p:cNvCxnSpPr>
          <p:nvPr/>
        </p:nvCxnSpPr>
        <p:spPr>
          <a:xfrm xmlns:a="http://schemas.openxmlformats.org/drawingml/2006/main">
            <a:off x="2024063" y="3752850"/>
            <a:ext cx="0" cy="1038225"/>
          </a:xfrm>
          <a:prstGeom xmlns:a="http://schemas.openxmlformats.org/drawingml/2006/main" prst="straightConnector1">
            <a:avLst/>
          </a:prstGeom>
          <a:ln xmlns:a="http://schemas.openxmlformats.org/drawingml/2006/main" w="19050">
            <a:solidFill>
              <a:srgbClr val="126B64"/>
            </a:solidFill>
            <a:tailEnd type="triangle" w="sm" len="sm"/>
          </a:ln>
        </p:spPr>
      </p:cxn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3429000" y="5229225"/>
            <a:ext cx="571500" cy="0"/>
          </a:xfrm>
          <a:prstGeom xmlns:a="http://schemas.openxmlformats.org/drawingml/2006/main" prst="straightConnector1">
            <a:avLst/>
          </a:prstGeom>
          <a:ln xmlns:a="http://schemas.openxmlformats.org/drawingml/2006/main" w="19050">
            <a:solidFill>
              <a:srgbClr val="126B64"/>
            </a:solidFill>
            <a:tailEnd type="triangle" w="sm" len="sm"/>
          </a:ln>
        </p:spPr>
      </p:cxnSp>
      <p:cxnSp>
        <p:nvCxnSpPr>
          <p:cNvPr id="32" name=""/>
          <p:cNvCxnSpPr>
            <a:stCxn xmlns:a="http://schemas.openxmlformats.org/drawingml/2006/main" id="7" idx="3"/>
            <a:endCxn xmlns:a="http://schemas.openxmlformats.org/drawingml/2006/main" id="9" idx="1"/>
          </p:cNvCxnSpPr>
          <p:nvPr/>
        </p:nvCxnSpPr>
        <p:spPr>
          <a:xfrm xmlns:a="http://schemas.openxmlformats.org/drawingml/2006/main">
            <a:off x="7334250" y="5229225"/>
            <a:ext cx="809625" cy="0"/>
          </a:xfrm>
          <a:prstGeom xmlns:a="http://schemas.openxmlformats.org/drawingml/2006/main" prst="straightConnector1">
            <a:avLst/>
          </a:prstGeom>
          <a:ln xmlns:a="http://schemas.openxmlformats.org/drawingml/2006/main" w="19050">
            <a:solidFill>
              <a:srgbClr val="126B64"/>
            </a:solidFill>
            <a:tailEnd type="triangle" w="sm" len="sm"/>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flipV="1">
            <a:off x="7334250" y="3533775"/>
            <a:ext cx="809625" cy="1695450"/>
          </a:xfrm>
          <a:prstGeom xmlns:a="http://schemas.openxmlformats.org/drawingml/2006/main" prst="bentConnector3">
            <a:avLst>
              <a:gd name="adj1" fmla="val 50000"/>
            </a:avLst>
          </a:prstGeom>
          <a:ln xmlns:a="http://schemas.openxmlformats.org/drawingml/2006/main" w="19050">
            <a:solidFill>
              <a:srgbClr val="126B64"/>
            </a:solidFill>
            <a:tailEnd type="triangle" w="sm" len="sm"/>
          </a:ln>
        </p:spPr>
      </p:cxnSp>
      <p:cxnSp>
        <p:nvCxnSpPr>
          <p:cNvPr id="34" name=""/>
          <p:cNvCxnSpPr>
            <a:stCxn xmlns:a="http://schemas.openxmlformats.org/drawingml/2006/main" id="8" idx="2"/>
            <a:endCxn xmlns:a="http://schemas.openxmlformats.org/drawingml/2006/main" id="9" idx="0"/>
          </p:cNvCxnSpPr>
          <p:nvPr/>
        </p:nvCxnSpPr>
        <p:spPr>
          <a:xfrm xmlns:a="http://schemas.openxmlformats.org/drawingml/2006/main">
            <a:off x="9834563" y="3971925"/>
            <a:ext cx="0" cy="819150"/>
          </a:xfrm>
          <a:prstGeom xmlns:a="http://schemas.openxmlformats.org/drawingml/2006/main" prst="straightConnector1">
            <a:avLst/>
          </a:prstGeom>
          <a:ln xmlns:a="http://schemas.openxmlformats.org/drawingml/2006/main" w="19050">
            <a:solidFill>
              <a:srgbClr val="126B64"/>
            </a:solidFill>
            <a:tailEnd type="triangle" w="sm" len="sm"/>
          </a:ln>
        </p:spPr>
      </p:cxnSp>
    </p:spTree>
    <p:extLst>
      <p:ext uri="{BB962C8B-B14F-4D97-AF65-F5344CB8AC3E}">
        <p14:creationId xmlns:p14="http://schemas.microsoft.com/office/powerpoint/2010/main" val="6683686"/>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D38155-1481-4CF3-B786-B3F5298B2291}"/>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A simple SOS flow</a:t>
            </a:r>
          </a:p>
        </p:txBody>
      </p:sp>
      <p:sp>
        <p:nvSpPr>
          <p:cNvPr id="2" name="">
            <a:extLst xmlns:a="http://schemas.openxmlformats.org/drawingml/2006/main">
              <a:ext uri="{FF2B5EF4-FFF2-40B4-BE49-F238E27FC236}">
                <a16:creationId xmlns:a16="http://schemas.microsoft.com/office/drawing/2014/main" id="{62507110-2903-4DB6-A46E-F388DF96E450}"/>
              </a:ext>
            </a:extLst>
          </p:cNvPr>
          <p:cNvSpPr>
            <a:spLocks xmlns:a="http://schemas.openxmlformats.org/drawingml/2006/main" noGrp="1"/>
          </p:cNvSpPr>
          <p:nvPr/>
        </p:nvSpPr>
        <p:spPr>
          <a:xfrm xmlns:a="http://schemas.openxmlformats.org/drawingml/2006/main">
            <a:off x="666750" y="171450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Create</a:t>
            </a:r>
          </a:p>
        </p:txBody>
      </p:sp>
      <p:sp>
        <p:nvSpPr>
          <p:cNvPr id="3" name="">
            <a:extLst xmlns:a="http://schemas.openxmlformats.org/drawingml/2006/main">
              <a:ext uri="{FF2B5EF4-FFF2-40B4-BE49-F238E27FC236}">
                <a16:creationId xmlns:a16="http://schemas.microsoft.com/office/drawing/2014/main" id="{63409AC7-48FE-4AF8-A746-2C2F2A216A99}"/>
              </a:ext>
            </a:extLst>
          </p:cNvPr>
          <p:cNvSpPr>
            <a:spLocks xmlns:a="http://schemas.openxmlformats.org/drawingml/2006/main" noGrp="1"/>
          </p:cNvSpPr>
          <p:nvPr/>
        </p:nvSpPr>
        <p:spPr>
          <a:xfrm xmlns:a="http://schemas.openxmlformats.org/drawingml/2006/main">
            <a:off x="3857625" y="1714500"/>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Describe the emergency and add location and people affected if known.</a:t>
            </a:r>
          </a:p>
        </p:txBody>
      </p:sp>
      <p:sp>
        <p:nvSpPr>
          <p:cNvPr id="4" name="">
            <a:extLst xmlns:a="http://schemas.openxmlformats.org/drawingml/2006/main">
              <a:ext uri="{FF2B5EF4-FFF2-40B4-BE49-F238E27FC236}">
                <a16:creationId xmlns:a16="http://schemas.microsoft.com/office/drawing/2014/main" id="{18D25012-1792-4A66-B5B0-A2473AA794E9}"/>
              </a:ext>
            </a:extLst>
          </p:cNvPr>
          <p:cNvSpPr>
            <a:spLocks xmlns:a="http://schemas.openxmlformats.org/drawingml/2006/main" noGrp="1"/>
          </p:cNvSpPr>
          <p:nvPr/>
        </p:nvSpPr>
        <p:spPr>
          <a:xfrm xmlns:a="http://schemas.openxmlformats.org/drawingml/2006/main">
            <a:off x="666750" y="299085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Save and relay</a:t>
            </a:r>
          </a:p>
        </p:txBody>
      </p:sp>
      <p:sp>
        <p:nvSpPr>
          <p:cNvPr id="5" name="">
            <a:extLst xmlns:a="http://schemas.openxmlformats.org/drawingml/2006/main">
              <a:ext uri="{FF2B5EF4-FFF2-40B4-BE49-F238E27FC236}">
                <a16:creationId xmlns:a16="http://schemas.microsoft.com/office/drawing/2014/main" id="{63AF3528-0C8E-4AFA-9775-0C5B135888EB}"/>
              </a:ext>
            </a:extLst>
          </p:cNvPr>
          <p:cNvSpPr>
            <a:spLocks xmlns:a="http://schemas.openxmlformats.org/drawingml/2006/main" noGrp="1"/>
          </p:cNvSpPr>
          <p:nvPr/>
        </p:nvSpPr>
        <p:spPr>
          <a:xfrm xmlns:a="http://schemas.openxmlformats.org/drawingml/2006/main">
            <a:off x="3857625" y="2990850"/>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The app stores the SOS first. Connected peers forward it automatically.</a:t>
            </a:r>
          </a:p>
        </p:txBody>
      </p:sp>
      <p:sp>
        <p:nvSpPr>
          <p:cNvPr id="6" name="">
            <a:extLst xmlns:a="http://schemas.openxmlformats.org/drawingml/2006/main">
              <a:ext uri="{FF2B5EF4-FFF2-40B4-BE49-F238E27FC236}">
                <a16:creationId xmlns:a16="http://schemas.microsoft.com/office/drawing/2014/main" id="{9A5D85BF-1AC9-4FA3-89A9-888D17281053}"/>
              </a:ext>
            </a:extLst>
          </p:cNvPr>
          <p:cNvSpPr>
            <a:spLocks xmlns:a="http://schemas.openxmlformats.org/drawingml/2006/main" noGrp="1"/>
          </p:cNvSpPr>
          <p:nvPr/>
        </p:nvSpPr>
        <p:spPr>
          <a:xfrm xmlns:a="http://schemas.openxmlformats.org/drawingml/2006/main">
            <a:off x="666750" y="426720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Delivery</a:t>
            </a:r>
          </a:p>
        </p:txBody>
      </p:sp>
      <p:sp>
        <p:nvSpPr>
          <p:cNvPr id="7" name="">
            <a:extLst xmlns:a="http://schemas.openxmlformats.org/drawingml/2006/main">
              <a:ext uri="{FF2B5EF4-FFF2-40B4-BE49-F238E27FC236}">
                <a16:creationId xmlns:a16="http://schemas.microsoft.com/office/drawing/2014/main" id="{6B4E998C-1E7F-4D82-B4EF-80E6DF52B3A1}"/>
              </a:ext>
            </a:extLst>
          </p:cNvPr>
          <p:cNvSpPr>
            <a:spLocks xmlns:a="http://schemas.openxmlformats.org/drawingml/2006/main" noGrp="1"/>
          </p:cNvSpPr>
          <p:nvPr/>
        </p:nvSpPr>
        <p:spPr>
          <a:xfrm xmlns:a="http://schemas.openxmlformats.org/drawingml/2006/main">
            <a:off x="3857625" y="4267200"/>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Returned receipts show backend delivery and responder acknowledgement.</a:t>
            </a:r>
          </a:p>
        </p:txBody>
      </p:sp>
      <p:sp>
        <p:nvSpPr>
          <p:cNvPr id="8" name="">
            <a:extLst xmlns:a="http://schemas.openxmlformats.org/drawingml/2006/main">
              <a:ext uri="{FF2B5EF4-FFF2-40B4-BE49-F238E27FC236}">
                <a16:creationId xmlns:a16="http://schemas.microsoft.com/office/drawing/2014/main" id="{19F8774D-F075-4D26-9A94-9460BDAA44E4}"/>
              </a:ext>
            </a:extLst>
          </p:cNvPr>
          <p:cNvSpPr>
            <a:spLocks xmlns:a="http://schemas.openxmlformats.org/drawingml/2006/main" noGrp="1"/>
          </p:cNvSpPr>
          <p:nvPr/>
        </p:nvSpPr>
        <p:spPr>
          <a:xfrm xmlns:a="http://schemas.openxmlformats.org/drawingml/2006/main">
            <a:off x="666750" y="57626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The sender never needs to choose a route.</a:t>
            </a:r>
          </a:p>
        </p:txBody>
      </p:sp>
    </p:spTree>
    <p:extLst>
      <p:ext uri="{BB962C8B-B14F-4D97-AF65-F5344CB8AC3E}">
        <p14:creationId xmlns:p14="http://schemas.microsoft.com/office/powerpoint/2010/main" val="2132220667"/>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405A83-70BD-4FF2-AF2B-9A506AFE81A0}"/>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Four agents, one local open model</a:t>
            </a:r>
          </a:p>
        </p:txBody>
      </p:sp>
      <p:sp>
        <p:nvSpPr>
          <p:cNvPr id="2" name="">
            <a:extLst xmlns:a="http://schemas.openxmlformats.org/drawingml/2006/main">
              <a:ext uri="{FF2B5EF4-FFF2-40B4-BE49-F238E27FC236}">
                <a16:creationId xmlns:a16="http://schemas.microsoft.com/office/drawing/2014/main" id="{F75BFEE3-0884-4742-9CD8-71EA08F4008F}"/>
              </a:ext>
            </a:extLst>
          </p:cNvPr>
          <p:cNvSpPr>
            <a:spLocks xmlns:a="http://schemas.openxmlformats.org/drawingml/2006/main" noGrp="1"/>
          </p:cNvSpPr>
          <p:nvPr/>
        </p:nvSpPr>
        <p:spPr>
          <a:xfrm xmlns:a="http://schemas.openxmlformats.org/drawingml/2006/main">
            <a:off x="666750" y="158115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Intake</a:t>
            </a:r>
          </a:p>
        </p:txBody>
      </p:sp>
      <p:sp>
        <p:nvSpPr>
          <p:cNvPr id="3" name="">
            <a:extLst xmlns:a="http://schemas.openxmlformats.org/drawingml/2006/main">
              <a:ext uri="{FF2B5EF4-FFF2-40B4-BE49-F238E27FC236}">
                <a16:creationId xmlns:a16="http://schemas.microsoft.com/office/drawing/2014/main" id="{888316C7-6D58-4009-8A4B-7EC886CEE660}"/>
              </a:ext>
            </a:extLst>
          </p:cNvPr>
          <p:cNvSpPr>
            <a:spLocks xmlns:a="http://schemas.openxmlformats.org/drawingml/2006/main" noGrp="1"/>
          </p:cNvSpPr>
          <p:nvPr/>
        </p:nvSpPr>
        <p:spPr>
          <a:xfrm xmlns:a="http://schemas.openxmlformats.org/drawingml/2006/main">
            <a:off x="3857625" y="1581150"/>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Extracts source-supported details, uncertainty and missing information.</a:t>
            </a:r>
          </a:p>
        </p:txBody>
      </p:sp>
      <p:sp>
        <p:nvSpPr>
          <p:cNvPr id="4" name="">
            <a:extLst xmlns:a="http://schemas.openxmlformats.org/drawingml/2006/main">
              <a:ext uri="{FF2B5EF4-FFF2-40B4-BE49-F238E27FC236}">
                <a16:creationId xmlns:a16="http://schemas.microsoft.com/office/drawing/2014/main" id="{9EDCB2EC-9BF8-4FE7-8240-E538DF2EB1A0}"/>
              </a:ext>
            </a:extLst>
          </p:cNvPr>
          <p:cNvSpPr>
            <a:spLocks xmlns:a="http://schemas.openxmlformats.org/drawingml/2006/main" noGrp="1"/>
          </p:cNvSpPr>
          <p:nvPr/>
        </p:nvSpPr>
        <p:spPr>
          <a:xfrm xmlns:a="http://schemas.openxmlformats.org/drawingml/2006/main">
            <a:off x="666750" y="267652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Correlation</a:t>
            </a:r>
          </a:p>
        </p:txBody>
      </p:sp>
      <p:sp>
        <p:nvSpPr>
          <p:cNvPr id="5" name="">
            <a:extLst xmlns:a="http://schemas.openxmlformats.org/drawingml/2006/main">
              <a:ext uri="{FF2B5EF4-FFF2-40B4-BE49-F238E27FC236}">
                <a16:creationId xmlns:a16="http://schemas.microsoft.com/office/drawing/2014/main" id="{76D6565E-6C50-4F4C-B645-AE2A13F767E1}"/>
              </a:ext>
            </a:extLst>
          </p:cNvPr>
          <p:cNvSpPr>
            <a:spLocks xmlns:a="http://schemas.openxmlformats.org/drawingml/2006/main" noGrp="1"/>
          </p:cNvSpPr>
          <p:nvPr/>
        </p:nvSpPr>
        <p:spPr>
          <a:xfrm xmlns:a="http://schemas.openxmlformats.org/drawingml/2006/main">
            <a:off x="3857625" y="2676525"/>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Suggests related incidents for human review.</a:t>
            </a:r>
          </a:p>
        </p:txBody>
      </p:sp>
      <p:sp>
        <p:nvSpPr>
          <p:cNvPr id="6" name="">
            <a:extLst xmlns:a="http://schemas.openxmlformats.org/drawingml/2006/main">
              <a:ext uri="{FF2B5EF4-FFF2-40B4-BE49-F238E27FC236}">
                <a16:creationId xmlns:a16="http://schemas.microsoft.com/office/drawing/2014/main" id="{B9ED669B-9853-4E9C-8313-6F704B07A89D}"/>
              </a:ext>
            </a:extLst>
          </p:cNvPr>
          <p:cNvSpPr>
            <a:spLocks xmlns:a="http://schemas.openxmlformats.org/drawingml/2006/main" noGrp="1"/>
          </p:cNvSpPr>
          <p:nvPr/>
        </p:nvSpPr>
        <p:spPr>
          <a:xfrm xmlns:a="http://schemas.openxmlformats.org/drawingml/2006/main">
            <a:off x="666750" y="377190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Verification</a:t>
            </a:r>
          </a:p>
        </p:txBody>
      </p:sp>
      <p:sp>
        <p:nvSpPr>
          <p:cNvPr id="7" name="">
            <a:extLst xmlns:a="http://schemas.openxmlformats.org/drawingml/2006/main">
              <a:ext uri="{FF2B5EF4-FFF2-40B4-BE49-F238E27FC236}">
                <a16:creationId xmlns:a16="http://schemas.microsoft.com/office/drawing/2014/main" id="{AE51E4ED-A3FD-4FE0-8754-44C88699BE12}"/>
              </a:ext>
            </a:extLst>
          </p:cNvPr>
          <p:cNvSpPr>
            <a:spLocks xmlns:a="http://schemas.openxmlformats.org/drawingml/2006/main" noGrp="1"/>
          </p:cNvSpPr>
          <p:nvPr/>
        </p:nvSpPr>
        <p:spPr>
          <a:xfrm xmlns:a="http://schemas.openxmlformats.org/drawingml/2006/main">
            <a:off x="3857625" y="3771900"/>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Examines reporting patterns and recommends verification.</a:t>
            </a:r>
          </a:p>
        </p:txBody>
      </p:sp>
      <p:sp>
        <p:nvSpPr>
          <p:cNvPr id="8" name="">
            <a:extLst xmlns:a="http://schemas.openxmlformats.org/drawingml/2006/main">
              <a:ext uri="{FF2B5EF4-FFF2-40B4-BE49-F238E27FC236}">
                <a16:creationId xmlns:a16="http://schemas.microsoft.com/office/drawing/2014/main" id="{E0E19A37-8C2B-49B4-94C6-984360EA96D0}"/>
              </a:ext>
            </a:extLst>
          </p:cNvPr>
          <p:cNvSpPr>
            <a:spLocks xmlns:a="http://schemas.openxmlformats.org/drawingml/2006/main" noGrp="1"/>
          </p:cNvSpPr>
          <p:nvPr/>
        </p:nvSpPr>
        <p:spPr>
          <a:xfrm xmlns:a="http://schemas.openxmlformats.org/drawingml/2006/main">
            <a:off x="666750" y="486727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Triage</a:t>
            </a:r>
          </a:p>
        </p:txBody>
      </p:sp>
      <p:sp>
        <p:nvSpPr>
          <p:cNvPr id="9" name="">
            <a:extLst xmlns:a="http://schemas.openxmlformats.org/drawingml/2006/main">
              <a:ext uri="{FF2B5EF4-FFF2-40B4-BE49-F238E27FC236}">
                <a16:creationId xmlns:a16="http://schemas.microsoft.com/office/drawing/2014/main" id="{C4FEA623-BD3D-4F2F-AF50-2013D817F3AA}"/>
              </a:ext>
            </a:extLst>
          </p:cNvPr>
          <p:cNvSpPr>
            <a:spLocks xmlns:a="http://schemas.openxmlformats.org/drawingml/2006/main" noGrp="1"/>
          </p:cNvSpPr>
          <p:nvPr/>
        </p:nvSpPr>
        <p:spPr>
          <a:xfrm xmlns:a="http://schemas.openxmlformats.org/drawingml/2006/main">
            <a:off x="3857625" y="4867275"/>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Suggests urgency, response categories and responder questions.</a:t>
            </a:r>
          </a:p>
        </p:txBody>
      </p:sp>
    </p:spTree>
    <p:extLst>
      <p:ext uri="{BB962C8B-B14F-4D97-AF65-F5344CB8AC3E}">
        <p14:creationId xmlns:p14="http://schemas.microsoft.com/office/powerpoint/2010/main" val="818733727"/>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5693D0-9A4F-4C4B-B954-F3D02499A39F}"/>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Human decisions stay visible</a:t>
            </a:r>
          </a:p>
        </p:txBody>
      </p:sp>
      <p:sp>
        <p:nvSpPr>
          <p:cNvPr id="2" name="">
            <a:extLst xmlns:a="http://schemas.openxmlformats.org/drawingml/2006/main">
              <a:ext uri="{FF2B5EF4-FFF2-40B4-BE49-F238E27FC236}">
                <a16:creationId xmlns:a16="http://schemas.microsoft.com/office/drawing/2014/main" id="{1B9407AD-93D8-4630-938B-EF782C694BBB}"/>
              </a:ext>
            </a:extLst>
          </p:cNvPr>
          <p:cNvSpPr>
            <a:spLocks xmlns:a="http://schemas.openxmlformats.org/drawingml/2006/main" noGrp="1"/>
          </p:cNvSpPr>
          <p:nvPr/>
        </p:nvSpPr>
        <p:spPr>
          <a:xfrm xmlns:a="http://schemas.openxmlformats.org/drawingml/2006/main">
            <a:off x="685800" y="1838325"/>
            <a:ext cx="5381625"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12B37"/>
                </a:solidFill>
                <a:latin typeface="Helvetica Neue"/>
                <a:ea typeface="Helvetica Neue"/>
                <a:cs typeface="Helvetica Neue"/>
              </a:defRPr>
            </a:pPr>
            <a:r>
              <a:rPr sz="3675" b="1">
                <a:solidFill>
                  <a:srgbClr val="112B37"/>
                </a:solidFill>
                <a:latin typeface="Helvetica Neue"/>
                <a:ea typeface="Helvetica Neue"/>
                <a:cs typeface="Helvetica Neue"/>
              </a:rPr>
              <a:t>Original report</a:t>
            </a:r>
          </a:p>
          <a:p xmlns:a="http://schemas.openxmlformats.org/drawingml/2006/main">
            <a:pPr>
              <a:defRPr sz="3675" b="1">
                <a:solidFill>
                  <a:srgbClr val="112B37"/>
                </a:solidFill>
                <a:latin typeface="Helvetica Neue"/>
                <a:ea typeface="Helvetica Neue"/>
                <a:cs typeface="Helvetica Neue"/>
              </a:defRPr>
            </a:pPr>
            <a:r>
              <a:rPr sz="3675" b="1">
                <a:solidFill>
                  <a:srgbClr val="112B37"/>
                </a:solidFill>
                <a:latin typeface="Helvetica Neue"/>
                <a:ea typeface="Helvetica Neue"/>
                <a:cs typeface="Helvetica Neue"/>
              </a:rPr>
              <a:t>AI assessment</a:t>
            </a:r>
          </a:p>
          <a:p xmlns:a="http://schemas.openxmlformats.org/drawingml/2006/main">
            <a:pPr>
              <a:defRPr sz="3675" b="1">
                <a:solidFill>
                  <a:srgbClr val="112B37"/>
                </a:solidFill>
                <a:latin typeface="Helvetica Neue"/>
                <a:ea typeface="Helvetica Neue"/>
                <a:cs typeface="Helvetica Neue"/>
              </a:defRPr>
            </a:pPr>
            <a:r>
              <a:rPr sz="3675" b="1">
                <a:solidFill>
                  <a:srgbClr val="112B37"/>
                </a:solidFill>
                <a:latin typeface="Helvetica Neue"/>
                <a:ea typeface="Helvetica Neue"/>
                <a:cs typeface="Helvetica Neue"/>
              </a:rPr>
              <a:t>Human verification</a:t>
            </a:r>
          </a:p>
        </p:txBody>
      </p:sp>
      <p:sp>
        <p:nvSpPr>
          <p:cNvPr id="3" name="">
            <a:extLst xmlns:a="http://schemas.openxmlformats.org/drawingml/2006/main">
              <a:ext uri="{FF2B5EF4-FFF2-40B4-BE49-F238E27FC236}">
                <a16:creationId xmlns:a16="http://schemas.microsoft.com/office/drawing/2014/main" id="{F4901F82-41C2-4130-B55B-D0B3DCB53EC1}"/>
              </a:ext>
            </a:extLst>
          </p:cNvPr>
          <p:cNvSpPr>
            <a:spLocks xmlns:a="http://schemas.openxmlformats.org/drawingml/2006/main" noGrp="1"/>
          </p:cNvSpPr>
          <p:nvPr/>
        </p:nvSpPr>
        <p:spPr>
          <a:xfrm xmlns:a="http://schemas.openxmlformats.org/drawingml/2006/main">
            <a:off x="6629400" y="1885950"/>
            <a:ext cx="4619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12B37"/>
                </a:solidFill>
                <a:latin typeface="Helvetica Neue"/>
                <a:ea typeface="Helvetica Neue"/>
                <a:cs typeface="Helvetica Neue"/>
              </a:defRPr>
            </a:pPr>
            <a:r>
              <a:rPr sz="2625" b="0">
                <a:solidFill>
                  <a:srgbClr val="112B37"/>
                </a:solidFill>
                <a:latin typeface="Helvetica Neue"/>
                <a:ea typeface="Helvetica Neue"/>
                <a:cs typeface="Helvetica Neue"/>
              </a:rPr>
              <a:t>A responder reviews correlation, requests verification, records evidence and acknowledges the incident.</a:t>
            </a:r>
          </a:p>
        </p:txBody>
      </p:sp>
      <p:sp>
        <p:nvSpPr>
          <p:cNvPr id="4" name="">
            <a:extLst xmlns:a="http://schemas.openxmlformats.org/drawingml/2006/main">
              <a:ext uri="{FF2B5EF4-FFF2-40B4-BE49-F238E27FC236}">
                <a16:creationId xmlns:a16="http://schemas.microsoft.com/office/drawing/2014/main" id="{50E6200E-E855-49AC-801C-21B800AFF6AA}"/>
              </a:ext>
            </a:extLst>
          </p:cNvPr>
          <p:cNvSpPr>
            <a:spLocks xmlns:a="http://schemas.openxmlformats.org/drawingml/2006/main" noGrp="1"/>
          </p:cNvSpPr>
          <p:nvPr/>
        </p:nvSpPr>
        <p:spPr>
          <a:xfrm xmlns:a="http://schemas.openxmlformats.org/drawingml/2006/main">
            <a:off x="685800" y="5229225"/>
            <a:ext cx="10553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64B36"/>
                </a:solidFill>
                <a:latin typeface="Helvetica Neue"/>
                <a:ea typeface="Helvetica Neue"/>
                <a:cs typeface="Helvetica Neue"/>
              </a:defRPr>
            </a:pPr>
            <a:r>
              <a:rPr sz="2325" b="0">
                <a:solidFill>
                  <a:srgbClr val="B64B36"/>
                </a:solidFill>
                <a:latin typeface="Helvetica Neue"/>
                <a:ea typeface="Helvetica Neue"/>
                <a:cs typeface="Helvetica Neue"/>
              </a:rPr>
              <a:t>Similar wording can trigger review. It cannot establish that an emergency is false.</a:t>
            </a:r>
          </a:p>
        </p:txBody>
      </p:sp>
    </p:spTree>
    <p:extLst>
      <p:ext uri="{BB962C8B-B14F-4D97-AF65-F5344CB8AC3E}">
        <p14:creationId xmlns:p14="http://schemas.microsoft.com/office/powerpoint/2010/main" val="734749639"/>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FC8541-6127-47F4-BA94-880FC89E908B}"/>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Live demonstration</a:t>
            </a:r>
          </a:p>
        </p:txBody>
      </p:sp>
      <p:sp>
        <p:nvSpPr>
          <p:cNvPr id="2" name="">
            <a:extLst xmlns:a="http://schemas.openxmlformats.org/drawingml/2006/main">
              <a:ext uri="{FF2B5EF4-FFF2-40B4-BE49-F238E27FC236}">
                <a16:creationId xmlns:a16="http://schemas.microsoft.com/office/drawing/2014/main" id="{246EBD69-A431-41D2-B2AA-F1587F531696}"/>
              </a:ext>
            </a:extLst>
          </p:cNvPr>
          <p:cNvSpPr>
            <a:spLocks xmlns:a="http://schemas.openxmlformats.org/drawingml/2006/main" noGrp="1"/>
          </p:cNvSpPr>
          <p:nvPr/>
        </p:nvSpPr>
        <p:spPr>
          <a:xfrm xmlns:a="http://schemas.openxmlformats.org/drawingml/2006/main">
            <a:off x="685800" y="1676400"/>
            <a:ext cx="10810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12B37"/>
                </a:solidFill>
                <a:latin typeface="Helvetica Neue"/>
                <a:ea typeface="Helvetica Neue"/>
                <a:cs typeface="Helvetica Neue"/>
              </a:defRPr>
            </a:pPr>
            <a:r>
              <a:rPr sz="2700" b="0">
                <a:solidFill>
                  <a:srgbClr val="112B37"/>
                </a:solidFill>
                <a:latin typeface="Helvetica Neue"/>
                <a:ea typeface="Helvetica Neue"/>
                <a:cs typeface="Helvetica Neue"/>
              </a:rPr>
              <a:t>1   Save an SOS while offline</a:t>
            </a:r>
          </a:p>
          <a:p xmlns:a="http://schemas.openxmlformats.org/drawingml/2006/main">
            <a:pPr>
              <a:defRPr sz="2700" b="0">
                <a:solidFill>
                  <a:srgbClr val="112B37"/>
                </a:solidFill>
                <a:latin typeface="Helvetica Neue"/>
                <a:ea typeface="Helvetica Neue"/>
                <a:cs typeface="Helvetica Neue"/>
              </a:defRPr>
            </a:pPr>
            <a:r>
              <a:rPr sz="2700" b="0">
                <a:solidFill>
                  <a:srgbClr val="112B37"/>
                </a:solidFill>
                <a:latin typeface="Helvetica Neue"/>
                <a:ea typeface="Helvetica Neue"/>
                <a:cs typeface="Helvetica Neue"/>
              </a:rPr>
              <a:t>2   Bring a relay into range</a:t>
            </a:r>
          </a:p>
          <a:p xmlns:a="http://schemas.openxmlformats.org/drawingml/2006/main">
            <a:pPr>
              <a:defRPr sz="2700" b="0">
                <a:solidFill>
                  <a:srgbClr val="112B37"/>
                </a:solidFill>
                <a:latin typeface="Helvetica Neue"/>
                <a:ea typeface="Helvetica Neue"/>
                <a:cs typeface="Helvetica Neue"/>
              </a:defRPr>
            </a:pPr>
            <a:r>
              <a:rPr sz="2700" b="0">
                <a:solidFill>
                  <a:srgbClr val="112B37"/>
                </a:solidFill>
                <a:latin typeface="Helvetica Neue"/>
                <a:ea typeface="Helvetica Neue"/>
                <a:cs typeface="Helvetica Neue"/>
              </a:rPr>
              <a:t>3   Give any relay backend connectivity</a:t>
            </a:r>
          </a:p>
          <a:p xmlns:a="http://schemas.openxmlformats.org/drawingml/2006/main">
            <a:pPr>
              <a:defRPr sz="2700" b="0">
                <a:solidFill>
                  <a:srgbClr val="112B37"/>
                </a:solidFill>
                <a:latin typeface="Helvetica Neue"/>
                <a:ea typeface="Helvetica Neue"/>
                <a:cs typeface="Helvetica Neue"/>
              </a:defRPr>
            </a:pPr>
            <a:r>
              <a:rPr sz="2700" b="0">
                <a:solidFill>
                  <a:srgbClr val="112B37"/>
                </a:solidFill>
                <a:latin typeface="Helvetica Neue"/>
                <a:ea typeface="Helvetica Neue"/>
                <a:cs typeface="Helvetica Neue"/>
              </a:rPr>
              <a:t>4   Review the four AI stages</a:t>
            </a:r>
          </a:p>
          <a:p xmlns:a="http://schemas.openxmlformats.org/drawingml/2006/main">
            <a:pPr>
              <a:defRPr sz="2700" b="0">
                <a:solidFill>
                  <a:srgbClr val="112B37"/>
                </a:solidFill>
                <a:latin typeface="Helvetica Neue"/>
                <a:ea typeface="Helvetica Neue"/>
                <a:cs typeface="Helvetica Neue"/>
              </a:defRPr>
            </a:pPr>
            <a:r>
              <a:rPr sz="2700" b="0">
                <a:solidFill>
                  <a:srgbClr val="112B37"/>
                </a:solidFill>
                <a:latin typeface="Helvetica Neue"/>
                <a:ea typeface="Helvetica Neue"/>
                <a:cs typeface="Helvetica Neue"/>
              </a:rPr>
              <a:t>5   Return a responder acknowledgement</a:t>
            </a:r>
          </a:p>
        </p:txBody>
      </p:sp>
      <p:sp>
        <p:nvSpPr>
          <p:cNvPr id="3" name="">
            <a:extLst xmlns:a="http://schemas.openxmlformats.org/drawingml/2006/main">
              <a:ext uri="{FF2B5EF4-FFF2-40B4-BE49-F238E27FC236}">
                <a16:creationId xmlns:a16="http://schemas.microsoft.com/office/drawing/2014/main" id="{C5EC34E5-3FC1-4472-AA20-24201560E0A8}"/>
              </a:ext>
            </a:extLst>
          </p:cNvPr>
          <p:cNvSpPr>
            <a:spLocks xmlns:a="http://schemas.openxmlformats.org/drawingml/2006/main" noGrp="1"/>
          </p:cNvSpPr>
          <p:nvPr/>
        </p:nvSpPr>
        <p:spPr>
          <a:xfrm xmlns:a="http://schemas.openxmlformats.org/drawingml/2006/main">
            <a:off x="685800" y="5429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6B64"/>
                </a:solidFill>
                <a:latin typeface="Helvetica Neue"/>
                <a:ea typeface="Helvetica Neue"/>
                <a:cs typeface="Helvetica Neue"/>
              </a:defRPr>
            </a:pPr>
            <a:r>
              <a:rPr sz="2325" b="1">
                <a:solidFill>
                  <a:srgbClr val="126B64"/>
                </a:solidFill>
                <a:latin typeface="Helvetica Neue"/>
                <a:ea typeface="Helvetica Neue"/>
                <a:cs typeface="Helvetica Neue"/>
              </a:rPr>
              <a:t>The operator changes the environment. ResQMesh decides when to forward.</a:t>
            </a:r>
          </a:p>
        </p:txBody>
      </p:sp>
    </p:spTree>
    <p:extLst>
      <p:ext uri="{BB962C8B-B14F-4D97-AF65-F5344CB8AC3E}">
        <p14:creationId xmlns:p14="http://schemas.microsoft.com/office/powerpoint/2010/main" val="1367068820"/>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CA8E64-745B-4EC9-85E6-E0BF8FF56A37}"/>
              </a:ext>
            </a:extLst>
          </p:cNvPr>
          <p:cNvSpPr>
            <a:spLocks xmlns:a="http://schemas.openxmlformats.org/drawingml/2006/main" noGrp="1"/>
          </p:cNvSpPr>
          <p:nvPr/>
        </p:nvSpPr>
        <p:spPr>
          <a:xfrm xmlns:a="http://schemas.openxmlformats.org/drawingml/2006/main">
            <a:off x="647700" y="5143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12B37"/>
                </a:solidFill>
                <a:latin typeface="Helvetica Neue"/>
                <a:ea typeface="Helvetica Neue"/>
                <a:cs typeface="Helvetica Neue"/>
              </a:defRPr>
            </a:pPr>
            <a:r>
              <a:rPr sz="3450" b="1">
                <a:solidFill>
                  <a:srgbClr val="112B37"/>
                </a:solidFill>
                <a:latin typeface="Helvetica Neue"/>
                <a:ea typeface="Helvetica Neue"/>
                <a:cs typeface="Helvetica Neue"/>
              </a:rPr>
              <a:t>What the prototype establishes</a:t>
            </a:r>
          </a:p>
        </p:txBody>
      </p:sp>
      <p:sp>
        <p:nvSpPr>
          <p:cNvPr id="2" name="">
            <a:extLst xmlns:a="http://schemas.openxmlformats.org/drawingml/2006/main">
              <a:ext uri="{FF2B5EF4-FFF2-40B4-BE49-F238E27FC236}">
                <a16:creationId xmlns:a16="http://schemas.microsoft.com/office/drawing/2014/main" id="{F8D9B57F-26D1-4DFE-9330-218246807CCE}"/>
              </a:ext>
            </a:extLst>
          </p:cNvPr>
          <p:cNvSpPr>
            <a:spLocks xmlns:a="http://schemas.openxmlformats.org/drawingml/2006/main" noGrp="1"/>
          </p:cNvSpPr>
          <p:nvPr/>
        </p:nvSpPr>
        <p:spPr>
          <a:xfrm xmlns:a="http://schemas.openxmlformats.org/drawingml/2006/main">
            <a:off x="666750" y="166687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Software validation</a:t>
            </a:r>
          </a:p>
        </p:txBody>
      </p:sp>
      <p:sp>
        <p:nvSpPr>
          <p:cNvPr id="3" name="">
            <a:extLst xmlns:a="http://schemas.openxmlformats.org/drawingml/2006/main">
              <a:ext uri="{FF2B5EF4-FFF2-40B4-BE49-F238E27FC236}">
                <a16:creationId xmlns:a16="http://schemas.microsoft.com/office/drawing/2014/main" id="{CE1B8C1F-4E50-487F-A964-6BC0AFA99304}"/>
              </a:ext>
            </a:extLst>
          </p:cNvPr>
          <p:cNvSpPr>
            <a:spLocks xmlns:a="http://schemas.openxmlformats.org/drawingml/2006/main" noGrp="1"/>
          </p:cNvSpPr>
          <p:nvPr/>
        </p:nvSpPr>
        <p:spPr>
          <a:xfrm xmlns:a="http://schemas.openxmlformats.org/drawingml/2006/main">
            <a:off x="3857625" y="1666875"/>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Deterministic relay tests, persistence, emulator transport and backend integration.</a:t>
            </a:r>
          </a:p>
        </p:txBody>
      </p:sp>
      <p:sp>
        <p:nvSpPr>
          <p:cNvPr id="4" name="">
            <a:extLst xmlns:a="http://schemas.openxmlformats.org/drawingml/2006/main">
              <a:ext uri="{FF2B5EF4-FFF2-40B4-BE49-F238E27FC236}">
                <a16:creationId xmlns:a16="http://schemas.microsoft.com/office/drawing/2014/main" id="{3C29BE64-EFAB-4E7E-A8AD-D12518A7906B}"/>
              </a:ext>
            </a:extLst>
          </p:cNvPr>
          <p:cNvSpPr>
            <a:spLocks xmlns:a="http://schemas.openxmlformats.org/drawingml/2006/main" noGrp="1"/>
          </p:cNvSpPr>
          <p:nvPr/>
        </p:nvSpPr>
        <p:spPr>
          <a:xfrm xmlns:a="http://schemas.openxmlformats.org/drawingml/2006/main">
            <a:off x="666750" y="306705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Physical milestone</a:t>
            </a:r>
          </a:p>
        </p:txBody>
      </p:sp>
      <p:sp>
        <p:nvSpPr>
          <p:cNvPr id="5" name="">
            <a:extLst xmlns:a="http://schemas.openxmlformats.org/drawingml/2006/main">
              <a:ext uri="{FF2B5EF4-FFF2-40B4-BE49-F238E27FC236}">
                <a16:creationId xmlns:a16="http://schemas.microsoft.com/office/drawing/2014/main" id="{BB6E5B79-D8BB-4CF1-855E-B85E95173696}"/>
              </a:ext>
            </a:extLst>
          </p:cNvPr>
          <p:cNvSpPr>
            <a:spLocks xmlns:a="http://schemas.openxmlformats.org/drawingml/2006/main" noGrp="1"/>
          </p:cNvSpPr>
          <p:nvPr/>
        </p:nvSpPr>
        <p:spPr>
          <a:xfrm xmlns:a="http://schemas.openxmlformats.org/drawingml/2006/main">
            <a:off x="3857625" y="3067050"/>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Nearby discovery and real radio relaying still require Android phones.</a:t>
            </a:r>
          </a:p>
        </p:txBody>
      </p:sp>
      <p:sp>
        <p:nvSpPr>
          <p:cNvPr id="6" name="">
            <a:extLst xmlns:a="http://schemas.openxmlformats.org/drawingml/2006/main">
              <a:ext uri="{FF2B5EF4-FFF2-40B4-BE49-F238E27FC236}">
                <a16:creationId xmlns:a16="http://schemas.microsoft.com/office/drawing/2014/main" id="{03BB3AC0-AE43-4C1A-847F-F5417530D3FE}"/>
              </a:ext>
            </a:extLst>
          </p:cNvPr>
          <p:cNvSpPr>
            <a:spLocks xmlns:a="http://schemas.openxmlformats.org/drawingml/2006/main" noGrp="1"/>
          </p:cNvSpPr>
          <p:nvPr/>
        </p:nvSpPr>
        <p:spPr>
          <a:xfrm xmlns:a="http://schemas.openxmlformats.org/drawingml/2006/main">
            <a:off x="666750" y="446722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B64"/>
                </a:solidFill>
                <a:latin typeface="Helvetica Neue"/>
                <a:ea typeface="Helvetica Neue"/>
                <a:cs typeface="Helvetica Neue"/>
              </a:defRPr>
            </a:pPr>
            <a:r>
              <a:rPr sz="2175" b="1">
                <a:solidFill>
                  <a:srgbClr val="126B64"/>
                </a:solidFill>
                <a:latin typeface="Helvetica Neue"/>
                <a:ea typeface="Helvetica Neue"/>
                <a:cs typeface="Helvetica Neue"/>
              </a:rPr>
              <a:t>Operating scope</a:t>
            </a:r>
          </a:p>
        </p:txBody>
      </p:sp>
      <p:sp>
        <p:nvSpPr>
          <p:cNvPr id="7" name="">
            <a:extLst xmlns:a="http://schemas.openxmlformats.org/drawingml/2006/main">
              <a:ext uri="{FF2B5EF4-FFF2-40B4-BE49-F238E27FC236}">
                <a16:creationId xmlns:a16="http://schemas.microsoft.com/office/drawing/2014/main" id="{33945B16-70EA-4F53-A496-CFCA1105AE28}"/>
              </a:ext>
            </a:extLst>
          </p:cNvPr>
          <p:cNvSpPr>
            <a:spLocks xmlns:a="http://schemas.openxmlformats.org/drawingml/2006/main" noGrp="1"/>
          </p:cNvSpPr>
          <p:nvPr/>
        </p:nvSpPr>
        <p:spPr>
          <a:xfrm xmlns:a="http://schemas.openxmlformats.org/drawingml/2006/main">
            <a:off x="3857625" y="4467225"/>
            <a:ext cx="757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7"/>
                </a:solidFill>
                <a:latin typeface="Helvetica Neue"/>
                <a:ea typeface="Helvetica Neue"/>
                <a:cs typeface="Helvetica Neue"/>
              </a:defRPr>
            </a:pPr>
            <a:r>
              <a:rPr sz="2175" b="0">
                <a:solidFill>
                  <a:srgbClr val="112B37"/>
                </a:solidFill>
                <a:latin typeface="Helvetica Neue"/>
                <a:ea typeface="Helvetica Neue"/>
                <a:cs typeface="Helvetica Neue"/>
              </a:rPr>
              <a:t>Foreground hackathon prototype with human review. Delivery does not guarantee rescue.</a:t>
            </a:r>
          </a:p>
        </p:txBody>
      </p:sp>
    </p:spTree>
    <p:extLst>
      <p:ext uri="{BB962C8B-B14F-4D97-AF65-F5344CB8AC3E}">
        <p14:creationId xmlns:p14="http://schemas.microsoft.com/office/powerpoint/2010/main" val="1675161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2026-10-04T01:53:53.7190000Z</dcterms:created>
  <dcterms:modified xsi:type="dcterms:W3CDTF">2026-10-04T01:53:53.7190000Z</dcterms:modified>
</coreProperties>
</file>